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333333"/>
                </a:solidFill>
              </a:rPr>
              <a:t>Icons</a:t>
            </a:r>
          </a:p>
        </p:txBody>
      </p:sp>
      <p:grpSp>
        <p:nvGrpSpPr>
          <p:cNvPr id="3" name="icon:innovation"/>
          <p:cNvGrpSpPr/>
          <p:nvPr/>
        </p:nvGrpSpPr>
        <p:grpSpPr>
          <a:xfrm>
            <a:off x="914400" y="1371600"/>
            <a:ext cx="731520" cy="731520"/>
            <a:chOff x="914400" y="1371600"/>
            <a:chExt cx="731520" cy="731520"/>
          </a:xfrm>
        </p:grpSpPr>
        <p:sp>
          <p:nvSpPr>
            <p:cNvPr id="4" name="bulb"/>
            <p:cNvSpPr/>
            <p:nvPr/>
          </p:nvSpPr>
          <p:spPr>
            <a:xfrm>
              <a:off x="914400" y="1371600"/>
              <a:ext cx="731520" cy="54864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ase"/>
            <p:cNvSpPr/>
            <p:nvPr/>
          </p:nvSpPr>
          <p:spPr>
            <a:xfrm>
              <a:off x="1143000" y="1920240"/>
              <a:ext cx="274320" cy="18288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label Innovation"/>
          <p:cNvSpPr txBox="1"/>
          <p:nvPr/>
        </p:nvSpPr>
        <p:spPr>
          <a:xfrm>
            <a:off x="640080" y="22860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Innovation</a:t>
            </a:r>
          </a:p>
        </p:txBody>
      </p:sp>
      <p:grpSp>
        <p:nvGrpSpPr>
          <p:cNvPr id="7" name="icon:risk_and_compliance"/>
          <p:cNvGrpSpPr/>
          <p:nvPr/>
        </p:nvGrpSpPr>
        <p:grpSpPr>
          <a:xfrm>
            <a:off x="2743200" y="1371600"/>
            <a:ext cx="731520" cy="731520"/>
            <a:chOff x="2743200" y="1371600"/>
            <a:chExt cx="731520" cy="731520"/>
          </a:xfrm>
        </p:grpSpPr>
        <p:sp>
          <p:nvSpPr>
            <p:cNvPr id="8" name="shield"/>
            <p:cNvSpPr/>
            <p:nvPr/>
          </p:nvSpPr>
          <p:spPr>
            <a:xfrm rot="5400000">
              <a:off x="2743200" y="1371600"/>
              <a:ext cx="731520" cy="731520"/>
            </a:xfrm>
            <a:prstGeom prst="homePlat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ot"/>
            <p:cNvSpPr/>
            <p:nvPr/>
          </p:nvSpPr>
          <p:spPr>
            <a:xfrm>
              <a:off x="3017520" y="1645920"/>
              <a:ext cx="182880" cy="182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label Risk and compliance"/>
          <p:cNvSpPr txBox="1"/>
          <p:nvPr/>
        </p:nvSpPr>
        <p:spPr>
          <a:xfrm>
            <a:off x="2468880" y="22860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Risk and compliance</a:t>
            </a:r>
          </a:p>
        </p:txBody>
      </p:sp>
      <p:grpSp>
        <p:nvGrpSpPr>
          <p:cNvPr id="11" name="icon:team"/>
          <p:cNvGrpSpPr/>
          <p:nvPr/>
        </p:nvGrpSpPr>
        <p:grpSpPr>
          <a:xfrm>
            <a:off x="4526280" y="1371600"/>
            <a:ext cx="777240" cy="685800"/>
            <a:chOff x="4526280" y="1371600"/>
            <a:chExt cx="777240" cy="685800"/>
          </a:xfrm>
        </p:grpSpPr>
        <p:sp>
          <p:nvSpPr>
            <p:cNvPr id="12" name="head"/>
            <p:cNvSpPr/>
            <p:nvPr/>
          </p:nvSpPr>
          <p:spPr>
            <a:xfrm>
              <a:off x="4572000" y="1371600"/>
              <a:ext cx="274320" cy="27432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body"/>
            <p:cNvSpPr/>
            <p:nvPr/>
          </p:nvSpPr>
          <p:spPr>
            <a:xfrm>
              <a:off x="4526280" y="1691640"/>
              <a:ext cx="365760" cy="365760"/>
            </a:xfrm>
            <a:prstGeom prst="round2SameRect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head"/>
            <p:cNvSpPr/>
            <p:nvPr/>
          </p:nvSpPr>
          <p:spPr>
            <a:xfrm>
              <a:off x="4983480" y="1371600"/>
              <a:ext cx="274320" cy="274320"/>
            </a:xfrm>
            <a:prstGeom prst="ellipse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body"/>
            <p:cNvSpPr/>
            <p:nvPr/>
          </p:nvSpPr>
          <p:spPr>
            <a:xfrm>
              <a:off x="4937760" y="1691640"/>
              <a:ext cx="365760" cy="365760"/>
            </a:xfrm>
            <a:prstGeom prst="round2SameRect">
              <a:avLst/>
            </a:prstGeom>
            <a:solidFill>
              <a:srgbClr val="2F5D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label Team"/>
          <p:cNvSpPr txBox="1"/>
          <p:nvPr/>
        </p:nvSpPr>
        <p:spPr>
          <a:xfrm>
            <a:off x="4297680" y="22860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Team</a:t>
            </a:r>
          </a:p>
        </p:txBody>
      </p:sp>
      <p:sp>
        <p:nvSpPr>
          <p:cNvPr id="17" name="icon:growth"/>
          <p:cNvSpPr/>
          <p:nvPr/>
        </p:nvSpPr>
        <p:spPr>
          <a:xfrm>
            <a:off x="6400800" y="1371600"/>
            <a:ext cx="731520" cy="822960"/>
          </a:xfrm>
          <a:custGeom>
            <a:avLst/>
            <a:gdLst/>
            <a:ahLst/>
            <a:cxnLst/>
            <a:rect l="l" t="t" r="r" b="b"/>
            <a:pathLst>
              <a:path w="731520" h="822960">
                <a:moveTo>
                  <a:pt x="0" y="731520"/>
                </a:moveTo>
                <a:lnTo>
                  <a:pt x="365760" y="0"/>
                </a:lnTo>
                <a:lnTo>
                  <a:pt x="731520" y="731520"/>
                </a:lnTo>
                <a:lnTo>
                  <a:pt x="502920" y="731520"/>
                </a:lnTo>
                <a:lnTo>
                  <a:pt x="502920" y="822960"/>
                </a:lnTo>
                <a:lnTo>
                  <a:pt x="228600" y="822960"/>
                </a:lnTo>
                <a:lnTo>
                  <a:pt x="228600" y="731520"/>
                </a:lnTo>
                <a:close/>
              </a:path>
            </a:pathLst>
          </a:custGeom>
          <a:solidFill>
            <a:srgbClr val="2F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el Growth"/>
          <p:cNvSpPr txBox="1"/>
          <p:nvPr/>
        </p:nvSpPr>
        <p:spPr>
          <a:xfrm>
            <a:off x="6126480" y="22860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Growth</a:t>
            </a:r>
          </a:p>
        </p:txBody>
      </p:sp>
      <p:pic>
        <p:nvPicPr>
          <p:cNvPr id="19" name="icon:data_and_analytics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731520" cy="731520"/>
          </a:xfrm>
          <a:prstGeom prst="rect">
            <a:avLst/>
          </a:prstGeom>
        </p:spPr>
      </p:pic>
      <p:sp>
        <p:nvSpPr>
          <p:cNvPr id="20" name="label Data and analytics"/>
          <p:cNvSpPr txBox="1"/>
          <p:nvPr/>
        </p:nvSpPr>
        <p:spPr>
          <a:xfrm>
            <a:off x="7955279" y="22860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Data and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